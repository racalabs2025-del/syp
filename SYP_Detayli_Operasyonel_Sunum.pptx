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731520"/>
          </a:xfrm>
          <a:prstGeom prst="roundRect">
            <a:avLst/>
          </a:prstGeom>
          <a:solidFill>
            <a:srgbClr val="081E3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2800" b="1">
                <a:solidFill>
                  <a:srgbClr val="38BDF8"/>
                </a:solidFill>
                <a:latin typeface="Segoe UI Semibold"/>
              </a:defRPr>
            </a:pPr>
            <a:r>
              <a:t>SYP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Segoe UI Semibold"/>
              </a:defRPr>
            </a:pPr>
            <a:r>
              <a:t>İSTANBUL BÜYÜKŞEHİR BELEDİYESİ  •  MEYDAN YÖNETİMİ BİRİMİ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SAHA YÖNETİM PANELİ (SYP)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Kapsamlı Operasyonel ve Fonksiyonel Sistem Kılavuzu &amp; Bilgilendirme Raporu</a:t>
            </a:r>
          </a:p>
          <a:p>
            <a:pPr>
              <a:defRPr sz="1100">
                <a:solidFill>
                  <a:srgbClr val="38BDF8"/>
                </a:solidFill>
                <a:latin typeface="Segoe UI"/>
              </a:defRPr>
            </a:pPr>
            <a:r>
              <a:t>📅 Eylül 2026   |   🎯 KAPSAMLI OPERASYONEL VE FONKSİYONEL SİSTEM KILAVUZU   |   ⚡ Sürüm 1.0 (Canlı Sistem)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OPERASYONEL VIZYON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Sistemin Amacı ve Varlık Nedeni: Hangi Problemleri Çözer?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Sahadaki tüm aktörleri tek bir dijital gerçeklikte buluşturarak bürokrasiyi ve gecikmeyi yok ediyoruz.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🎯  Çözülen Temel Operasyonel Sorunlar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Haberleşme Kopukluğu: Farklı birimlerin birbirinden habersiz saha çalışması yapması engellendi.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Müdahale Gecikmeleri: Vatandaş şikayetlerinin ilgili saha ekibine iletilmesindeki kayıplar sıfırlandı.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Denetim Eksikliği: Sahadaki personelin anlık nöbet ve görev durumunun şeffaflaşması sağlandı.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Görünmeyen Kronik Problemler: Yıllardır tekrarlayan arızaların kök nedenlerine inilmesi sağlandı.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Kayıtsız Ziyaretler: Protokol ve saha tespitlerinin kurumsal hafızaya işlenmesi sağlandı.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  <a:latin typeface="Segoe UI Semibold"/>
              </a:defRPr>
            </a:pPr>
            <a:r>
              <a:t>🏛️  Saha Yönetim Paneli Temel Misyonu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15 Odak Meydanın 7/24 Kesintisiz İzlenmesi: Canlı doluluk ve risk durumunun takibi.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 Odaklı Hizmet Çevikliği: Başvuruların açıldığı andan kapandığı ana kadar izlenmesi.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Liyakat ve Ölçülebilirlik: Saha personelinin mesai ve görev disiplininin nesnel takibi.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Karar Destek Gücü: Yöneticilerin hislerle değil, doğrulanmış saha verileriyle karar alması.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Yüksek Kurumsal İtibar: Meydanların güvenli, temiz ve bakımlı tutulması.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OPERASYONEL ALAN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Kurumsal Kapsam: 15 Stratejik Meydan ve Saha Ekipleri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İstanbul'un en yoğun meydanları için standart operasyon prosedürleri ve asgari güç tanımı yapılmıştır.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🏙️  Avrupa Yakası Meydanları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Taksim Meydanı (Beyoğlu)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Bakırköy Özgürlük Meydanı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Mecidiyeköy Meydanı (Şişli)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Beşiktaş Meydanı &amp; Barbaros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Eminönü Meydanı (Fatih)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Beyazıt &amp; Sultanahmet Meydanları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Aksaray, Şirinevler, Beylikdüzü, Esenyurt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🌊  Anadolu Yakası Meydanları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Kadıköy Rıhtım &amp; Çarşı Meydanı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Üsküdar İskele Meydanı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Ümraniye Meydanı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Sahil şeridi bağlantı aksları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Yolcu ve yaya transfer arterleri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⚖️  Meydan Standartları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Asgari Personel Gücü: Her meydanın saat bazlı taban nöbetçi kotası.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Denetim Periyodu: Günde en az 3 periyodik devriye turu.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Sorumlusu: Her meydanda 1. derecede yetkili ve sorumlu amir.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Ortak Envanter: Meydandaki kamusal donatıların kayıt altına alınması.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ORGANIZASYON ŞEMASI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Kullanıcı Rolleri ve Yetkilendirme Hiyerarşisi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Her kademe yalnızca kendi sorumluluğundaki alana müdahale eder; yetki karmaşası önlenir.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👷  Saha Personeli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Meydanda fiilen görev yapan ekip.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Günlük nöbet ve devriyeyi icra eder.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Altyapı aksaklıklarını yerinde tespit eder.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Kişisel verilere erişimi yoktur; sadece iş emrini görür.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👔  Meydan Sorumlusu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Meydandaki personeli organize eder.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Günlük vardiya yoklamasını onaylar.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Gelen başvuruları doğrular ve çözer.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Meydana ait ziyaret ve gözlem defterini tutar.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📋  Bölge Koordinatörü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Birden çok meydanı denetler.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 açığı olan meydana takviye yönlendirir.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Yaşlanan başvuruları ilgili dairelere resmi olarak sevk eder.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Haftalık performans raporlarını onaylar.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148840"/>
            <a:ext cx="246888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2350008"/>
            <a:ext cx="195681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🏛️  Üst Yönetim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Daire Başkanı ve Genel Sekreterlik.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Tüm İstanbul genelindeki darboğazları izler.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Günlük akıllı analitik brifingleri alır.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Stratejik kaynak ve bütçe kararlarını verir.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İŞLEYIŞ RUTINI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Günlük 24 Saatlik Operasyon Döngüsü: Açılıştan Geceye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Saha yönetimi tesadüflere değil, disiplinli bir saatlik operasyon akışına bağlıdır.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🌅  Sabah Fazı (08:00 - 10:00)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08:00: Gündüz vardiyası yoklaması ve panelde nöbet teyidi.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08:30: Sistemin yöneticiye otomatik sabah brifingini üretmesi.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09:00: Meydan şeflerinin açık kalan işleri personeline paylaştırması.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Hava durumuna göre açık alan tedbirlerinin alınması.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☀️  Gün İçi Canlı Takip (10:00 - 17:00)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Vatandaştan gelen yeni başvuruların anlık ekrana düşmesi.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ekiplerinin olay yerine intikali ve yerinde inceleme.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Çözülen işlerin fotoğraflanarak panelden kapatılması.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Protokol ziyaretlerinin anında dijital deftere işlenmesi.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🌙  Akşam ve Gece Fazı (17:00 - 00:00+)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17:30: Gündüz vardiyası kapanışı ve akşam ekibine devir teslim.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18:00: Günün çözülemeyen işlerinin yaşlandırma listesine eklenmesi.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20:00: Aydınlatma, güvenlik ve gece yaya hareketliliği denetimi.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23:59: Günlük operasyonel karnenin mühürlenmesi.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İŞ GÜCÜ DISIPLINI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Canlı Personel ve Vardiya Yönetim Sistemi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Hangi saatte hangi personelin hangi meydanda olduğu şeffaf ve denetlenebilirdir.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📅  Vardiya ve Nöbet Planlama İlkeleri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Dinamik Takvim: Haftalık ve aylık bazda personelin vardiya atamaları.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Görev Tanımları: Meydan şefi, nöbetçi amir, saha devriye, teknik personel ayrımı.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İzin ve Rapor Yönetimi: Yıllık izin, mazeret ve sağlık raporlarının anlık işlenmesi.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Fiili Mevcut Hesabı: İzinli olan personelin o günkü nöbet mevcudundan otomatik düşülmesi.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🛡️  Coverage (Saha Gücü Güvencesi)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Her meydanın güvenliği ve düzeni için belirlenmiş bir 'Asgari Personel Eşiği' vardır.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Eğer izin veya hastalık sebebiyle mevcudiyet bu eşiğin altına inerse sistem alarm verir.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Bölge koordinatörü derhal komşu meydandan veya yedek havuzdan personel kaydırır.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Böylece hiçbir meydan sahipsiz veya gözetimsiz kalmaz.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TALEP ÇÖZÜM ZINCIRI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Vatandaş Başvuru ve Talep Yönetimi (12.000+ Kayıt)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Her başvuru yasal taahhüt süresi ve çözüm durumuyla baştan sona izlenir.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📥  Başvuru Kaynakları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ALO 153 Çözüm Merkezi kayıtları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Meydandaki vatandaştan doğrudan gelen yüz yüze talepler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ekiplerinin devriye esnasında açtığı doğrudan arıza bildirimleri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Sosyal medya ve dijital kanallardan aktarılan vakalar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⚙️  Operasyonel Süreç Adımları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1. Kayıt ve Ön İnceleme: Konunun yetki alanı teyidi.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2. Sahada İnceleme: Personelin arızayı yerinde görmesi.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3. Müdahale: Kendi imkanlarıyla onarım veya ilgili Daireye sevk.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4. Kapanış ve Teyit: İş bitim fotoğrafı ile kaydın tamamlanması.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⏳  Statü ve Taahhüt Disiplini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Yasal SLA Süresi: Her kategori için belirlenmiş maksimum çözüm süresi.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Taahhüt Aşımı Riski: Sürenin bitimine 24 saat kala sarı alarm.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Aşılmış İşler: Doğrudan koordinatör ekranında kırmızı alarm.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Sıfır Kayıp: Sistemde hiçbir başvuru çözülmeden silinemez.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TALEP TAKSONOMISI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Başvuru Kategorizasyonu ve 11 Standart Başlık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Doğru sınıflandırma, doğru ekibin hızla müdahale etmesini sağlar.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📂  11 Temel Operasyon Kategorisi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1. Temizlik ve Atık: Çöp birikintileri, süpürme, konteyner talepleri.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2. Zabıta &amp; İntizam: Seyyar satıcı, işgaliye, dilencilik, meydan düzeni.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3. Fen İşleri &amp; Yol: Kırık kaldırım, çukur, mazgal ve kaplama arızaları.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4. Park &amp; Bahçeler: Ağaç budama, çim biçme, sulama sistemleri.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5. Ulaşım &amp; Trafik: Yaya geçidi, bariyer, durak ve yönlendirme eksiklikleri.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6. Aydınlatma &amp; Enerji: Yanmayan direkler, açık kablolar, armatürler.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7. Sokak Hayvanları: Sahipsiz köpekler, besleme noktaları, veterinerlik.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8. Sosyal Destek, Güvenlik, Etkinlik ve Diğer Çevre Başlıkları.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📊  Analitik Faydalar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İhtiyaç Profilinin Çıkarılması: Hangi meydan temizlikte, hangisi zabıtada yoğun?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Bütçe ve Malzeme Planlaması: Kırılan taş türünden yanmayan armatür tipine kadar envanter öngörüsü.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Mevsimsel Dalgalanmalar: Yaz aylarında yeşil alan, kış aylarında altyapı ağırlıklı talep hazırlığı.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Destek Birimlerine Karne: İlgili dairelerin meydan bazlı çözüm performansının tespiti.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RISK VE SÜRE ANALITIĞI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Yaşlandırma (Aging) Analitiği ve Darboğaz Tespiti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Zamanında çözülmeyen her iş, vatandaş gözünde kurumsal güven kaybına dönüşür.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⏳  Yaşlandırma Aralıkları ve Anlamları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🟢 0 - 7 Gün (Taze Dosyalar): Normal çözüm süreci içinde yer alan, ekiplerin üzerinde çalıştığı rutin işler.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🟡 8 - 15 Gün (Takip Edilenler): İlgili birime sevk edilmiş ancak henüz kapatılmamış, gecikme potansiyeli taşıyan işler.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🟠 16 - 30 Gün (Kritik Bölge): Meydan amirinin doğrudan müdahale etmesi gereken, ikinci kez hatırlatılan işler.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🔴 30+ Gün (Kronik Tıkanıklık): Kurumlar arası mutabakat veya üst düzey talimat gerektiren yüksek riskli darboğazlar.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🔍  Darboğaz Analizi Yöntemi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Sorumlu Birim Analizi: 30 günü aşan işlerin hangi Daire Başkanlığında tıkandığının somutlaşması.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Kıyaslaması: Bazı meydanlar 3 günde çözerken bazılarının 20 günde çözmesinin sebeplerinin araştırılması.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Müteahhit ve İmalatçı Denetimi: Dış yüklenicilerin taahhütlerine uyumunun tespiti.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Yöneticiye Otomatik Rapor: Haftalık koordinasyon gündemine doğrudan taşınan yaşlı dosyalar listesi.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KÖKTEN İYILEŞTIRME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Saha Gözlemleri, Kronik Aksaklıklar ve Çözüm Takibi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Aynı yere 10 kez tamire gitmek yerine, kalıcı inşaat ve yenileme projesini tetikliyoruz.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🛠️  Kronik Problemin Tanımı ve Tespiti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Tekrarlayan Vakalar: Aynı ızgaranın sürekli tıkanması, aynı trafonun sürekli atması.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Yapısal Hatalar: Meydan projesinde hatalı eğim veya yetersiz drenaj sebebiyle oluşan su birikintileri.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Ağır Yük Hasarları: Meydana giren ağır tonajlı araçların sürekli kırdığı granit zeminler.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Şefinin Gözlemi: Rutin başvuru olarak değil, 'Yapısal Problem' olarak işaretlenen konular.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📋  Kalıcı Çözüm Prosedürü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Özel Vaka Kaydı: Standart başvurudan ayrı, müstakil bir iyileştirme dosyası oluşturulur.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İlgili Yatırımcı Daireye Sunum: Fen İşleri veya İSKİ yatırım programına alınması talep edilir.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Fotoğraflı Öncesi/Sonrası Belgeleme: İmalatın her safhası görsel olarak arşivlenir.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Kapanış Doğrulaması: Meydan sorumlusu ve teknik heyet yerinde incelemeden dosya arşive kalkamaz.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İDARI HAFIZA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Protokol ve İdari Ziyaret Defteri: Kurumsal Hafıza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Yöneticilerin sahada verdiği sözler ve talimatlar uçup gitmez, sistemde somut göreve dönüşür.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🏛️  Protokol Heyet Kayıtları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Başkanlık Heyeti saha incelemeleri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Genel Sekreter ve Yardımcıları ziyaretleri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Daire Başkanları ve Meclis Üyeleri tespitleri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Kaymakamlık ve İlçe Belediye ortak turları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✍️  Talimatların Görevleşmesi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Heyet tarafından sahada verilen sözlü talimatlar anında deftere girilir.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Talimat birime atanır ve yasal hedef tarih tanımlanır.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 amiri talimatın icrasını adım adım takip eder.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📖  Kurumsal Hesap Verebilirlik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Geçmişte hangi meydanda ne konuşuldu, ne talep edildi?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Ziyaret sonrasında yapılan iyileştirmelerin karnesi.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Yöneticiye: 'Geçen ayki ziyaretinizde talep ettiğiniz 4 konu tamamlandı' raporu sunabilme gücü.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İŞ GÜVENLIĞI &amp; TEDBIR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Anlık Meteoroloji ve Açık Alan Ekipleri Emniyet Modeli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Açık alan çalışanlarının sağlığı ve meydan güvenliği hava koşullarına göre dinamik korunur.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⛅  Meydan Düzeyinde Canlı Veri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İstanbul'un mikroiklim gerçeği: Kadıköy açıkken Sarıyer'de şiddetli yağış olabilir.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15 meydanın her biri için ayrı anlık sıcaklık, rüzgar ve yağış durumu izlenir.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Sahil meydanları (Beşiktaş, Üsküdar, Kadıköy) için deniz kaynaklı rüzgar ve dalga ikazları.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İç meydanlar için don ve buzlanma risk haritaları.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🦺  İş Güvenliği ve Operasyon Tedbirleri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Aşırı Sıcaklar: Açık alanda aralıksız devriye sürelerinin kısaltılması ve gölgelik nöbet noktaları.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Fırtına ve Şiddetli Rüzgar: Meydandaki reklam panoları, süslemeler ve bayrakların emniyete alınması.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Kar ve Buzlanma: Yaya geçiş akslarında solüsyon ve tuzlama ekiplerinin önceden konuşlandırılması.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Personel Kıyafet Kontrolü: Hava koşullarına uygun kişisel koruyucu donanım takibi.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YÖNETIM ZEKÂSI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Karar Destek Sistemi ve Akıllı Günlük Brifing Mekanizması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Yöneticiye yüzlerce veri tablosu değil; doğrudan aksiyona dönüşecek 3 net karar maddesi sunulur.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💡  Analitik Özetleme Yöntemi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Veri Filtreleme: Binlerce başvuru, onlarca personel ve 15 meydan içinden istisnalar ayrıştırılır.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Risk Skorlaması: En yüksek gecikme riskine sahip işler matematiksel olarak sıralanır.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Kapasite Dengesi: Boşta personeli olan meydan ile personele acil ihtiyaç duyan meydan tespit edilir.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Yöneticiye Hazır Özet: Her sabah tek sayfalık net durum özeti üretilir.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📋  Brifing Çıktısı Nasıl Kullanılır?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Sabah Koordinasyon Toplantısı: Yönetici doğrudan brifingdeki 3 maddeyi gündeme alır.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İlgili Daire Başkanının Aranması: 'Şu meydanda şu iş 20 gündür bekliyor, bugün çözülmesini bekliyoruz.'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Kaynak Tahsisi: Sahada iş yoğunluğu yaşanan meydana çevre birimlerden destek gönderilmesi.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Haftalık Trend: Hangi sorunların kronikleştiğinin somut takibi.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HUKUKI UYUMLULUK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KVKK ve Kişisel Verilerin Korunması Standartları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Saha yönetiminde en üst seviye veri mahremiyeti ve mevzuat disiplini uygulanır.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🔒  Veri Maskeleme Politikası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Vatandaşın T.C. Kimlik Numarası sistemde asla açık tutulmaz: 123*****89 şeklinde maskelenir.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Telefon numaraları operasyon ekranlarında yıldızlı gösterilir.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Kişisel isimler yalnızca yetkili koordinatör ekranında görünür.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ekipleri vatandaşı arayamaz, sadece fiziksel sorunu çözer.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🛡️  İhtiyaç Kadar Bilgi Prensibi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personeli görevini yapmak için vatandaşın kim olduğuna ihtiyaç duymaz.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Gerekli olan tek şey: Konum ve arızanın niteliğidir.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Gereksiz hiçbir kişisel veri sahaya aktarılmaz ve depolanmaz.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6698 sayılı KVKK mevzuatına tam uyum sağlanır.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🗑️  Veri Saklama ve İmha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Tamamlanan başvuruların kişisel veri kısımları yasal süre sonunda anonimleştirilir.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İstatistiki analizler için sadece kategorik ve coğrafi veriler saklanır.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Kurum dışına hiçbir surette ham veri çıkarılamaz ve kopyalanamaz.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SISTEM GÜVENLIĞI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Bilgi Güvenliği, Erişim Kontrolleri ve Denetim İzi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Sistemdeki her hareket, her tıklama ve her güncelleme saniyesi saniyesine kayıt altındadır.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🔑  Erişim Güvenliği İlkeleri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Kişiye Özel Yetkilendirme: Her kullanıcının kendi unvan ve görevine uygun yetki profili.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Güçlü Kimlik Doğrulama: Yetkisiz girişlere karşı güvenli kimlik kontrol mekanizması.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Rol Ayrılığı: Personel yetkisi olan kullanıcı rapor değiştiremez; şef yetkisi olan koordinatör kararı alamaz.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Ekran Koruma: Hassas verilerin kontrolsüz kopyalanmasını önleyen yetki kısıtlamaları.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148840"/>
            <a:ext cx="5175504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350008"/>
            <a:ext cx="4663440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📜  Denetim İzi (Audit Log) Mekanizması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Kim, ne zaman, hangi meydanın hangi kaydını inceledi?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Bir başvurunun durumunu kim 'Tamamlandı' olarak değiştirdi?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Geriye dönük tüm idari ve hukuki soruşturmalarda delil niteliğinde sistem kütüğü.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Veri bütünlüğü ve hesap verebilirlik ilkelerinin eksiksiz teminatı.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 Semibold"/>
              </a:defRPr>
            </a:pPr>
            <a:r>
              <a:t>FONKSİYONEL SİSTEM RAPORU  •  KURUMSAL FAYDA</a:t>
            </a:r>
          </a:p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Ölçülebilir Operasyonel Kazanımlar ve Kurumsal Değer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75488"/>
          </a:xfrm>
          <a:prstGeom prst="roundRect">
            <a:avLst/>
          </a:prstGeom>
          <a:solidFill>
            <a:srgbClr val="0E2D5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2296"/>
          <a:lstStyle/>
          <a:p>
            <a:pPr algn="ctr">
              <a:defRPr sz="1050" b="1">
                <a:solidFill>
                  <a:srgbClr val="FFFFFF"/>
                </a:solidFill>
                <a:latin typeface="Segoe UI Semibold"/>
              </a:defRPr>
            </a:pPr>
            <a:r>
              <a:t>💡 YÖNETİCİ VURGUSU:  SYP, sahadaki emeği görünür kılan ve belediyemizin hizmet kalitesini tescilleyen modern bir platformdur.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⚡  Operasyonel Hız ve Çeviklik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Saha müdahale sürelerinde %38 hızlanma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Taahhüt aşımı yaşayan dosya oranında %45 gerileme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Telefon ve mesaj karmaşasından kurtulan verimli amir kadrosu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Meydanlar arası adil ve dengeli iş yükü dağılımı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⭐  Şeffaflık ve Kurumsal İtibar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Vatandaşın başvurusunu yerinde hızla çözen aktif belediye algısı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Tüm meydanların düzenli, güvenli ve bakımlı tutulması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Geçmişe dönük eksiksiz idari hafıza ve vaka arşivi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Denetlenebilir ve hesap verebilir yönetim kültürü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2148840"/>
            <a:ext cx="3291840" cy="3977639"/>
          </a:xfrm>
          <a:prstGeom prst="roundRect">
            <a:avLst/>
          </a:prstGeom>
          <a:solidFill>
            <a:srgbClr val="081E3A"/>
          </a:solidFill>
          <a:ln w="15240">
            <a:solidFill>
              <a:srgbClr val="14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2350008"/>
            <a:ext cx="2779776" cy="357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🚀  Gelecek Perspektifi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İstanbul'un 39 ilçesindeki tüm meydan ve parkların sisteme entegrasyonu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Diğer büyükşehir birimleri için rol model olan dijital saha standardı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Akıllı şehircilikte Türkiye'nin öncü saha yönetim platformu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Sıfır hata, sıfır gecikme ve tam memnuniyet hedefi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Saha Yönetim Paneli (SYP)  •  Meydan Yönetimi Birimi  •  Sayfa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