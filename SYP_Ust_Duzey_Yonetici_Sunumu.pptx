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011680" cy="731520"/>
          </a:xfrm>
          <a:prstGeom prst="roundRect">
            <a:avLst/>
          </a:prstGeom>
          <a:solidFill>
            <a:srgbClr val="081E3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>
              <a:defRPr sz="2800" b="1">
                <a:solidFill>
                  <a:srgbClr val="38BDF8"/>
                </a:solidFill>
                <a:latin typeface="Segoe UI Semibold"/>
              </a:defRPr>
            </a:pPr>
            <a:r>
              <a:t>SYP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8BDF8"/>
                </a:solidFill>
                <a:latin typeface="Segoe UI Semibold"/>
              </a:defRPr>
            </a:pPr>
            <a:r>
              <a:t>İSTANBUL BÜYÜKŞEHİR BELEDİYESİ  •  MEYDAN YÖNETİMİ BİRİMİ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SAHA YÖNETİM PANELİ (SYP)</a:t>
            </a:r>
          </a:p>
          <a:p>
            <a:pPr>
              <a:spcAft>
                <a:spcPts val="24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İstanbul Meydanlarının Dijital Operasyon ve Komuta Merkezi</a:t>
            </a:r>
          </a:p>
          <a:p>
            <a:pPr>
              <a:defRPr sz="1100">
                <a:solidFill>
                  <a:srgbClr val="38BDF8"/>
                </a:solidFill>
                <a:latin typeface="Segoe UI"/>
              </a:defRPr>
            </a:pPr>
            <a:r>
              <a:t>📅 Eylül 2026   |   🎯 C-LEVEL STRATEJİK YÖNETİM SUNUMU   |   ⚡ Sürüm 1.0 (Canlı Sistem)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SAHA YÖNETİM PANELİ (SYP)  •  STRATEJIK İHTIYAÇ VE HEDEF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Yönetici Özeti: Dağınık Sahadan Tek Ekran Komutasına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Telefon trafiği ve dağınık listeler yerine; tek merkezden anlık, şeffaf ve ölçülebilir yönetim.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291840" cy="1280160"/>
          </a:xfrm>
          <a:prstGeom prst="roundRect">
            <a:avLst/>
          </a:prstGeom>
          <a:solidFill>
            <a:srgbClr val="081E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13432"/>
            <a:ext cx="292608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8BDF8"/>
                </a:solidFill>
                <a:latin typeface="Segoe UI Semibold"/>
              </a:defRPr>
            </a:pPr>
            <a:r>
              <a:t>🏛️  15 Meydan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Kesintisiz Canlı Takip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İstanbul'un ana yaya ve buluşma merkezleri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2148840"/>
            <a:ext cx="3291840" cy="1280160"/>
          </a:xfrm>
          <a:prstGeom prst="roundRect">
            <a:avLst/>
          </a:prstGeom>
          <a:solidFill>
            <a:srgbClr val="081E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6864" y="2313432"/>
            <a:ext cx="292608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8BDF8"/>
                </a:solidFill>
                <a:latin typeface="Segoe UI Semibold"/>
              </a:defRPr>
            </a:pPr>
            <a:r>
              <a:t>📋  12.000+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Analiz Edilen Başvuru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11 standart kategoride otomatik tasnif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2148840"/>
            <a:ext cx="3291840" cy="1280160"/>
          </a:xfrm>
          <a:prstGeom prst="roundRect">
            <a:avLst/>
          </a:prstGeom>
          <a:solidFill>
            <a:srgbClr val="081E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1" y="2313432"/>
            <a:ext cx="292608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8BDF8"/>
                </a:solidFill>
                <a:latin typeface="Segoe UI Semibold"/>
              </a:defRPr>
            </a:pPr>
            <a:r>
              <a:t>⏱️  %45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Taahhüt Aşımı Düşüşü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Erken uyarı ve yaşlandırma takip sistemiyle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5175504" cy="2468880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858768"/>
            <a:ext cx="4663440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EF4444"/>
                </a:solidFill>
                <a:latin typeface="Segoe UI Semibold"/>
              </a:defRPr>
            </a:pPr>
            <a:r>
              <a:t>❌  Stratejik Zorluklar (Eski Yapı)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Meydanlardaki personel durumunun ancak telefonla teyit edilebilmesi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Vatandaş başvurularının dağınık listelerde kaybolması ve yaşlanması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Meydan amirlerinin tespitlerinin kurumsal hafızaya aktarılamaması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3657600"/>
            <a:ext cx="5175504" cy="2468880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8816" y="3858768"/>
            <a:ext cx="4663440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  <a:latin typeface="Segoe UI Semibold"/>
              </a:defRPr>
            </a:pPr>
            <a:r>
              <a:t>✅  SYP ile Kazanılan Güç (Yeni Dönem)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Tüm meydan personeli ve vardiyalarının tek ekranda anlık doğrulanması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Yaşlanan dosyalar ve darboğazlar için otomatik kırmızı alarm mekanizması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Her sabah yöneticinin masasına gelen 3 maddelik kritik eylem brifingi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SAHA YÖNETİM PANELİ (SYP)  •  OPERASYONEL EVRIM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Dönüşüm: Geleneksel Yönetimden Veriye Dayalı Komutaya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Hantallıktan kurtulup dakikalar içinde karar alan proaktif bir operasyon yapısına geçtik.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59E0B"/>
                </a:solidFill>
                <a:latin typeface="Segoe UI Semibold"/>
              </a:defRPr>
            </a:pPr>
            <a:r>
              <a:t>⏳  Geleneksel Saha Yönetimi (Öncesi)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Dağınık Excel Tabloları: Birbirini tutmayan, güncelliğini yitiren personel listeleri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WhatsApp / Telefon İletişimi: Denetlenemeyen, sözlü kalan ve arşivi olmayan mesajlaşmalar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Geciken Reaksiyon: Bir sorunun merkeze ulaşması ve ilgili birime iletilmesinde bürokratik kayıp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Görünmeyen Darboğazlar: Hangi birimin işi geciktirdiğinin tespit edilememesi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Kayıt Altına Alınmayan Ziyaretler: Protokol ve saha tespitlerinin şahısların hafızasında kalması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🚀  Saha Yönetim Paneli (Sonrası)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Tek Merkezli Canlı Veri: Tüm koordinatör ve amirlerin aynı gerçekliği gördüğü ortak ekran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Dijital Görev &amp; Nöbet Şablonu: Hangi personelin nerede olduğu saniyesinde teyitli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Otomatik Yaşlandırma Analizi: 30+ günü aşan kronik işlerin doğrudan yöneticiye sinyal vermesi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Birimler Arası Senkronizasyon: Fen İşleri, Zabıta, Park Bahçeler ortak vaka takibi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Kurumsal Protokol Defteri: Tüm denetim ve saha notlarının kalıcı dijital arşivi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SAHA YÖNETİM PANELİ (SYP)  •  COĞRAFI HÂKIMIYET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Sahadaki Ayak İzimiz: 15 Odak Meydanın Stratejik Konumu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İstanbul'un günlük 10 milyonu aşan insan hareketliliği 15 kritik meydanda yönetiliyor.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🏙️  Avrupa Yakası Meydanları (10 Merkez)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Taksim Meydanı: Kültür, turizm ve yoğun yaya aksı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Bakırköy Özgürlük Meydanı: Marmaray ve alışveriş odağı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Mecidiyeköy Meydanı: Metrobüs-Metro aktarma kavşağı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Beşiktaş Meydanı: Vapur iskeleleri ve sahil yoğunluğu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Eminönü &amp; Tarihi Yarımada Meydanları: Beyazıt, Aksaray, Sultanahmet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Batı Aksı: Şirinevler, Beylikdüzü ve Esenyurt Meydanları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  <a:latin typeface="Segoe UI Semibold"/>
              </a:defRPr>
            </a:pPr>
            <a:r>
              <a:t>🌊  Anadolu Yakası Meydanları (5 Merkez)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Kadıköy Rıhtım Meydanı: Anadolu yakasının ana buluşma ve aktarma arteri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Üsküdar Meydanı: Boğaz kıyısı, Marmaray ve sahil sirkülasyonu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Ümraniye Meydanı: Metro ve yoğun ticaret omurgası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Tüm Meydanlar İçin Standart: Asgari personel doluluğu ve periyodik denetim şartı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Bölgesel Eşgüdüm: Yoğunluk anlarında meydanlar arası dinamik ekip transferi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SAHA YÖNETİM PANELİ (SYP)  •  KOMUTA ARAYÜZÜ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Tek Bakışta Bütün İstanbul: Meydan Yönetimi Kokpiti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Yöneticinin sahanın genel durumunu kavraması ve aksayan noktayı görmesi sadece 5 saniye sürer.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🚦  Renk Kodlu Durum Takibi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Yeşil Durum: Personel tam, taahhüt aşımı yok, rutin devriye.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Sarı Durum: Başvuru yoğunluğu artışta, 8-15 günlük takipler mevcut.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Kırmızı Durum: Taahhüt aşımı riski, acil müdahale veya personel açığı var.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🔍  Hiyerarşik Derinlik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Üst Görünüm: 15 meydanın makro sağlık karnesi ve toplam saha gücü.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Meydan Detayı: Tek tıkla o meydandaki tüm personelin isimleri ve açık işler.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Personel Kartı: Görevli personelin iletişim ve haftalık nöbet planı.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21624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⚡  Hızlı Aksiyon ve Filtreleme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Sorumlu Bazlı Süzme: Bölge amirinin kendi yetki alanına anında odaklanması.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Durum Filtreleri: Sadece sorunlu meydanları tek tıkla listeleyebilme.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Anlık Senkronizasyon: Sahadaki her değişiklik ekranda anında görünür.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SAHA YÖNETİM PANELİ (SYP)  •  İŞ GÜCÜ OPTIMIZASYONU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Canlı Saha Gücü: Kim, Nerede, Hangi Görevde?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Sahada kör nokta bırakmıyoruz; planlanan vardiya ile sahadaki fiili mevcudiyet tam örtüşüyor.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291840" cy="1280160"/>
          </a:xfrm>
          <a:prstGeom prst="roundRect">
            <a:avLst/>
          </a:prstGeom>
          <a:solidFill>
            <a:srgbClr val="081E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13432"/>
            <a:ext cx="292608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8BDF8"/>
                </a:solidFill>
                <a:latin typeface="Segoe UI Semibold"/>
              </a:defRPr>
            </a:pPr>
            <a:r>
              <a:t>👥  3 Vardiya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Kesintisiz Devriye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Gündüz, akşam ve hafta sonu nöbet şablonları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2148840"/>
            <a:ext cx="3291840" cy="1280160"/>
          </a:xfrm>
          <a:prstGeom prst="roundRect">
            <a:avLst/>
          </a:prstGeom>
          <a:solidFill>
            <a:srgbClr val="081E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6864" y="2313432"/>
            <a:ext cx="292608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8BDF8"/>
                </a:solidFill>
                <a:latin typeface="Segoe UI Semibold"/>
              </a:defRPr>
            </a:pPr>
            <a:r>
              <a:t>📊  %98.2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Vardiya Uyumu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Planlanan nöbete sadakat ve eksiksiz devir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2148840"/>
            <a:ext cx="3291840" cy="1280160"/>
          </a:xfrm>
          <a:prstGeom prst="roundRect">
            <a:avLst/>
          </a:prstGeom>
          <a:solidFill>
            <a:srgbClr val="081E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1" y="2313432"/>
            <a:ext cx="292608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8BDF8"/>
                </a:solidFill>
                <a:latin typeface="Segoe UI Semibold"/>
              </a:defRPr>
            </a:pPr>
            <a:r>
              <a:t>🛡️  Sıfır Açık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Coverage Güvencesi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Kritik saatlerde asgari personel emniyet eşiği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5175504" cy="2468880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858768"/>
            <a:ext cx="4663440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📅  Dinamik Vardiya Çizelgesi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Haftalık ve aylık bazda unvan, görev ve meydan eşleştirmesi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İzinli, raporlu ve mazeretli personelin mevcuttan anlık düşmesi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Ekip lideri ve saha devriye personeli net rol tanımları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3657600"/>
            <a:ext cx="5175504" cy="2468880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8816" y="3858768"/>
            <a:ext cx="4663440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⚠️  Eksik Saha Gücü Uyarısı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Bir meydanda belirlenen asgari nöbetçi sayısının altına düşülürse otomatik ikaz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Hastalık veya ani mazeret hallerinde komşu meydandan yedekleme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Amirlerin onayına bağlı esnek vardiya takası ve izin kayıtları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SAHA YÖNETİM PANELİ (SYP)  •  TALEP RÖNTGENI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Sahadaki Sorunların Röntgeni: 12.000+ Başvuru Analitiği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Vatandaşın her başvurusunu kuru bir kayıt değil, meydan iyileştirmesinin kılavuzu olarak görüyoruz.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📂  11 Standart Kategori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Temizlik &amp; Katı Atık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Zabıta &amp; Düzen Sağlama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Fen İşleri &amp; Altyapı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Park, Bahçe &amp; Yeşil Alan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Ulaşım &amp; Yaya Sirkülasyonu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Aydınlatma &amp; Enerji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Sokak Hayvanları ve Sağlık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📊  Konu Bazlı Yoğunluk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Hangi meydanda en çok hangi şikayet tipi öne çıkıyor?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Mevsimsel ve haftalık talep artışlarının önceden kestirilmesi.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Tekrarlayan arızaların kalıcı onarıma yönlendirilmesi.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21624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⏱️  Çözüm ve Kapanış Hızı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Başvurunun ilk açılış anından yerinde incelenmesine kadar geçen süre.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İlgili daire başkanlıklarına sevk edilen işlerin takip disiplini.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Vatandaşa geri bildirim verilerek kapatılan kayıtların oranı.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SAHA YÖNETİM PANELİ (SYP)  •  DARBOĞAZ TESPITI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Kırmızı Alarm: Yaşlandırma (Aging) ve Darboğaz Tespiti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Masada unutulan hiçbir iş kalmaz; yaşlanan her dosya yönetici ekranında yukarı taşınır.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2468880" cy="1280160"/>
          </a:xfrm>
          <a:prstGeom prst="roundRect">
            <a:avLst/>
          </a:prstGeom>
          <a:solidFill>
            <a:srgbClr val="081E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13432"/>
            <a:ext cx="210312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10B981"/>
                </a:solidFill>
                <a:latin typeface="Segoe UI Semibold"/>
              </a:defRPr>
            </a:pPr>
            <a:r>
              <a:t>🟢  0 - 7 Gün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Taze İşler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Rutin operasyon döngüsü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148840"/>
            <a:ext cx="2468880" cy="1280160"/>
          </a:xfrm>
          <a:prstGeom prst="roundRect">
            <a:avLst/>
          </a:prstGeom>
          <a:solidFill>
            <a:srgbClr val="081E3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313432"/>
            <a:ext cx="210312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59E0B"/>
                </a:solidFill>
                <a:latin typeface="Segoe UI Semibold"/>
              </a:defRPr>
            </a:pPr>
            <a:r>
              <a:t>🟡  8 - 15 Gün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Takipte Olanlar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Gecikme eğilimi gösterenler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48840"/>
            <a:ext cx="2468880" cy="1280160"/>
          </a:xfrm>
          <a:prstGeom prst="roundRect">
            <a:avLst/>
          </a:prstGeom>
          <a:solidFill>
            <a:srgbClr val="081E3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313432"/>
            <a:ext cx="210312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59E0B"/>
                </a:solidFill>
                <a:latin typeface="Segoe UI Semibold"/>
              </a:defRPr>
            </a:pPr>
            <a:r>
              <a:t>🟠  16 - 30 Gün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Kritik Aşama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Amir seviyesinde müdahale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148840"/>
            <a:ext cx="2468880" cy="1280160"/>
          </a:xfrm>
          <a:prstGeom prst="roundRect">
            <a:avLst/>
          </a:prstGeom>
          <a:solidFill>
            <a:srgbClr val="081E3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2313432"/>
            <a:ext cx="210312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EF4444"/>
                </a:solidFill>
                <a:latin typeface="Segoe UI Semibold"/>
              </a:defRPr>
            </a:pPr>
            <a:r>
              <a:t>🔴  30+ Gün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Kırmızı Alarm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Üst yönetim koordinasyonu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175504" cy="2468880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858768"/>
            <a:ext cx="4663440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🎯  Neden Yaşlandırma Analitiği?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Sadece toplam açık iş sayısına bakmak yöneticileri yanıltır.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Asıl risk; haftalardır çözülmeden bekleyen kronik işlerdir.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SYP, yaşlanan işleri renk skalasında ayırarak rehaveti önler.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3657600"/>
            <a:ext cx="5175504" cy="2468880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3858768"/>
            <a:ext cx="4663440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🤝  Kurumlar Arası Koordinasyon Gücü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30 günü aşan konularda ilgili Daire Başkanlığına resmi uyarı sinyali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İlçe belediyesi sorumluluğunda kalan alanların tespiti ve resmi bildirim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Bürokratik tıkanıklıkların yönetici toplantılarına doğrudan gündem olması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SAHA YÖNETİM PANELİ (SYP)  •  KÖK NEDEN ÇÖZÜMÜ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Kronik Saha Problemleri ve Kalıcı Çözüm Takibi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Günü kurtaran geçici önlemler yerine, problemi kaynağında yok eden yapısal çözümler üretiyoruz.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🔍  Kronik Vaka Kriterleri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Aynı noktada 30 gün içinde 3'ten fazla tekrarlanan arızalar (Örn: Çöken ızgaralar)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Birden fazla birimin ortak müdahalesini gerektiren karmaşık aksaklıklar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Meydan zemin kaplaması, aydınlatma direkleri ve sabit kent mobilyaları hasarları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Saha amirinin 'Kronik Risk' olarak işaretlediği stratejik noktalar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🛠️  Kalıcı Çözüm Mekanizması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Özel Dosya Takibi: Her kronik problem için bağımsız bir çözüm dosyası açılır.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Yerinde Fotoğraflı Tespit: İlk durum ve nihai imalat fotoğraflarla belgelenir.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Tarihli Taahhüt: İlgili imalatçı veya müteahhit birimin verdiği kesin bitiş tarihi girilir.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Meydan Şefinin Nihai Onayı: Problem sahada fiilen çözülmeden dosya sistemden kapanamaz.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SAHA YÖNETİM PANELİ (SYP)  •  KURUMSAL HAFIZA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Sahadaki Kurumsal Hafıza: Dijital Ziyaret ve Gözlem Defteri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Meydanlara yapılan üst düzey ziyaretler ve verilen talimatlar unutulmaz; hepsi kayıt altındadır.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🏛️  Protokol Ziyaretleri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Başkanlık, Genel Sekreterlik ve Daire Başkanı saha ziyaretleri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Ziyaret sırasında yerinde iletilen özel talimatlar ve notlar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Talimatın muhatabı olan birim ve verilen hedef süre kaydı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✍️  Saha Şeflerinin Notları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Meydan sorumlusunun o güne ait önemli operasyonel gözlemleri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Etkinlik, miting veya olağanüstü toplanma kayıtları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Fiziki güvenlik ve asayişle ilgili kolluk kuvveti temasları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21624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📖  Geriye Dönük İzlenebilirlik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Hangi meydanı en son kim ziyaret etti ve ne talimat verdi?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Geçmiş denetim notlarının gerçekleşme oranlarının raporlanması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Yönetici devir-teslimlerinde kaybolmayan kurumsal bilgi birikimi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SAHA YÖNETİM PANELİ (SYP)  •  RISK YÖNETIMI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Meteoroloji ve Açık Alan Operasyon Güvenliği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Personelimizi ve meydan donatılarımızı hava şartlarına göre önceden konumlandırıyoruz.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291840" cy="1280160"/>
          </a:xfrm>
          <a:prstGeom prst="roundRect">
            <a:avLst/>
          </a:prstGeom>
          <a:solidFill>
            <a:srgbClr val="081E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13432"/>
            <a:ext cx="292608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8BDF8"/>
                </a:solidFill>
                <a:latin typeface="Segoe UI Semibold"/>
              </a:defRPr>
            </a:pPr>
            <a:r>
              <a:t>🌬️  Rüzgar Şiddeti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Sahil Meydanları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Beşiktaş, Üsküdar, Kadıköy için fırtına eşiği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2148840"/>
            <a:ext cx="3291840" cy="1280160"/>
          </a:xfrm>
          <a:prstGeom prst="roundRect">
            <a:avLst/>
          </a:prstGeom>
          <a:solidFill>
            <a:srgbClr val="081E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6864" y="2313432"/>
            <a:ext cx="292608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8BDF8"/>
                </a:solidFill>
                <a:latin typeface="Segoe UI Semibold"/>
              </a:defRPr>
            </a:pPr>
            <a:r>
              <a:t>🌧️  Yağış Alarmı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Altyapı Tedbirleri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Izgara temizlikleri ve su birikintisi önlemleri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2148840"/>
            <a:ext cx="3291840" cy="1280160"/>
          </a:xfrm>
          <a:prstGeom prst="roundRect">
            <a:avLst/>
          </a:prstGeom>
          <a:solidFill>
            <a:srgbClr val="081E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1" y="2313432"/>
            <a:ext cx="292608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8BDF8"/>
                </a:solidFill>
                <a:latin typeface="Segoe UI Semibold"/>
              </a:defRPr>
            </a:pPr>
            <a:r>
              <a:t>🌡️  Aşırı Sıcak / Soğuk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Personel Sağlığı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Açık alan mesaisinde dinlenme ve takviye planı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5175504" cy="2468880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858768"/>
            <a:ext cx="4663440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⛅  Meydan Bazlı Mikro İklim Takibi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İstanbul genelinde hava homojen değildir; sahil ile iç kesimler farklıdır.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Her meydanın kendi anlık hava durumu doğrudan panel kartında yer alır.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Saha amiri operasyonu genel tahminlere değil, meydanın anlık gerçeğine göre yönetir.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3657600"/>
            <a:ext cx="5175504" cy="2468880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8816" y="3858768"/>
            <a:ext cx="4663440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🦺  Proaktif Operasyonel Kararlar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Şiddetli rüzgarda tabela, tente ve bayrak direklerinin emniyete alınması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Kar yağışında tuzlama ve küreme ekiplerinin meydan girişlerine konuşlandırılması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Personelin koruyucu ekipman (yağmurluk, mont, reflektör) tamlığının teyidi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SAHA YÖNETİM PANELİ (SYP)  •  KARAR DESTEK SISTEMI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Yöneticinin Dijital Danışmanı: Akıllı Günlük Brifing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Her sabah saat 08:30'da yöneticinin ekranına sahanın en kritik 3 odak maddesi gelir.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💡  Otomatik Analitik Çıkarımlar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Yüzlerce satırlık veri yığınını yöneticiye okutmak verimsizliktir.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Sistem arka planda tüm meydanları, başvuruları ve personeli süzer.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Öne Çıkan Tespitler: En çok yaşlanan 3 konu, personeli eksik kalan 2 meydan, çözüm hızı düşen birimler.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Anlaşılır, insan dilinde ve doğrudan eyleme dönük kısa yönetici cümleleri.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  <a:latin typeface="Segoe UI Semibold"/>
              </a:defRPr>
            </a:pPr>
            <a:r>
              <a:t>📋  Örnek Sabah Brifingi Formatı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1. UYARI: Taksim Meydanı'nda zemin kaplama arızaları 18 gündür açık; Fen İşleri ekipleri bugün yönlendirilmeli.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2. RİSK: Kadıköy Rıhtım'da akşam saatlerinde beklenen fırtına sebebiyle iskele çevresi devriyesi 2 personel artırılmalı.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3. BAŞARI: Bakırköy Meydanı'nda bu hafta açılan temizlik başvurularının %94'ü ilk 24 saatte başarıyla çözüldü.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SAHA YÖNETİM PANELİ (SYP)  •  MEVZUAT VE MAHREMIYET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Sıfır Hukuki Risk: KVKK ve Bilgi Güvenliği İlkeleri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Vatandaşın mahremiyeti esastır; sahada sadece iş çözülür, kişisel veriye erişilmez.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🔒  Veri Maskeleme Standardı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T.C. Kimlik Numaraları: İlk 3 ve son 2 hane görünür, kalanı yıldızlanır.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Telefon Numaraları: Operasyon ekranlarında tam telefon asla açık gösterilmez.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Açık Hane Adresi: Sadece meydan ve vaka konumu yer alır; şahsi adres gizlenir.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🛡️  Bilmesi Gerektiği Kadar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Saha personeli sadece arızayı ve noktayı bilmekle yükümlüdür.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Vatandaşın kişisel profili sahaya akmaz, merkezde korunur.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Gereksiz kişisel veri transferi ve paylaşımı engellenir.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21624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👁️‍🗨️  Erişim Denetimi (Audit Log)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Hangi kullanıcının hangi kaydı ne zaman incelediği saniyesine kadar kayıtlıdır.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Ekran görüntüsü alma ve dışa aktarma yetkileri sınırlandırılmıştır.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Hukuki ve idari denetimlerde %100 hesap verebilirlik sağlanır.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SAHA YÖNETİM PANELİ (SYP)  •  UÇTAN UCA OPERASYON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Kesintisiz Süreç Akışı: Sahadan Yönetici Masasına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Sahada bir aksaklığın doğması ile kararın alınması arasındaki süreyi dakikalara indirdik.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246888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195681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📍  1. Tespit &amp; Giriş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Vatandaş başvurusu veya saha devriyesinin tespiti sisteme düşer.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Konum ve problem kategorisi belirlenir.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Yasal taahhüt sayacı işlemeye başlar.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148840"/>
            <a:ext cx="246888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0752" y="2350008"/>
            <a:ext cx="195681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🚶  2. Atama &amp; İntikal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Meydan şefi ekibi görevlendirir.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Personel meydan içinde intikal eder.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Gerekirse ilgili destek birimi (Fen İşleri, Zabıta) bilgilendirilir.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48840"/>
            <a:ext cx="246888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350008"/>
            <a:ext cx="195681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✅  3. Çözüm &amp; Doğrulama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Yerinde müdahale tamamlanır.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Çözüm notu ve saha teyidi girilir.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Meydan şefi yerinde kontrol edip onaylar.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148840"/>
            <a:ext cx="246888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17152" y="2350008"/>
            <a:ext cx="195681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📊  4. Yönetim Raporu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Kapanan kayıt anlık KPI grafiğine işler.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Meydanın başarı skoru yükselir.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Gün sonu yönetici tablosu güncellenir.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SAHA YÖNETİM PANELİ (SYP)  •  ÖLÇÜLEBILIR BAŞARI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Performans Göstergeleri: Ölçülemeyen Hizmet Yönetilemez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Başarımızı kanaatlerle değil, nesnel ve doğrulanabilir metriklerle ölçüyoruz.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2468880" cy="1280160"/>
          </a:xfrm>
          <a:prstGeom prst="roundRect">
            <a:avLst/>
          </a:prstGeom>
          <a:solidFill>
            <a:srgbClr val="081E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13432"/>
            <a:ext cx="210312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10B981"/>
                </a:solidFill>
                <a:latin typeface="Segoe UI Semibold"/>
              </a:defRPr>
            </a:pPr>
            <a:r>
              <a:t>🎯  %91.4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Çözüm Oranı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Açılan başvuruların kapatılma oranı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148840"/>
            <a:ext cx="2468880" cy="1280160"/>
          </a:xfrm>
          <a:prstGeom prst="roundRect">
            <a:avLst/>
          </a:prstGeom>
          <a:solidFill>
            <a:srgbClr val="081E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313432"/>
            <a:ext cx="210312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8BDF8"/>
                </a:solidFill>
                <a:latin typeface="Segoe UI Semibold"/>
              </a:defRPr>
            </a:pPr>
            <a:r>
              <a:t>⚡  -%38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Reaksiyon Süresi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İlk intikal süresinde kısalma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48840"/>
            <a:ext cx="2468880" cy="1280160"/>
          </a:xfrm>
          <a:prstGeom prst="roundRect">
            <a:avLst/>
          </a:prstGeom>
          <a:solidFill>
            <a:srgbClr val="081E3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313432"/>
            <a:ext cx="210312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0284C7"/>
                </a:solidFill>
                <a:latin typeface="Segoe UI Semibold"/>
              </a:defRPr>
            </a:pPr>
            <a:r>
              <a:t>👥  %98.2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Vardiya Devamlılık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Nöbet saatlerine tam riayet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148840"/>
            <a:ext cx="2468880" cy="1280160"/>
          </a:xfrm>
          <a:prstGeom prst="roundRect">
            <a:avLst/>
          </a:prstGeom>
          <a:solidFill>
            <a:srgbClr val="081E3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2313432"/>
            <a:ext cx="210312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59E0B"/>
                </a:solidFill>
                <a:latin typeface="Segoe UI Semibold"/>
              </a:defRPr>
            </a:pPr>
            <a:r>
              <a:t>📉  -%45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Geciken İşler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30+ gün bekleyen vaka düşüşü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175504" cy="2468880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858768"/>
            <a:ext cx="4663440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🏆  Meydanlar Arası Performans Kıyaslama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Hangi meydan ekipleri en hızlı reaksiyonu veriyor?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Hangi meydanda kronik vaka sayısı sıfırlandı?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Ekipler arasında sağlıklı bir kurumsal rekabet ve hizmet motivasyonu.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3657600"/>
            <a:ext cx="5175504" cy="2468880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3858768"/>
            <a:ext cx="4663440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📑  Daire Başkanlığı Seviyesinde Raporlama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İlgili destek dairelerine (Zabıta, Fen İşleri vb.) haftalık karne sunumu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İyileştirme gereken noktaların veriyle somut olarak masaya konması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Kaynak dağılımında liyakat ve ihtiyaç odaklı planlama imkanı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SAHA YÖNETİM PANELİ (SYP)  •  MALIYET VE VERIM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Saha Verimliliği: Yatırımın Kurumsal Karşılığı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SYP bir masraf kalemi değil; operasyonel israfı önleyen doğrudan bir tasarruf aracıdır.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⏱️  Zaman ve İletişim Tasarrufu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Günlük telefon zincirlerinin ve yüzlerce mesajın ortadan kalkması.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Amirlerin rapor derlemek yerine sahayı denetlemeye vakit ayırması.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Haftalık koordinasyon toplantısı hazırlık süresinin saatlerden dakikalara inmesi.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🔄  Mükerrer İşlerin Önlenmesi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Aynı sorun için birden fazla ekibin ayrı ayrı sahaya çıkmasının engellenmesi.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Meydandaki hazır personelin doğrudan olaya yönlendirilmesiyle yakıt tasarrufu.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Araç ve ekipman aşınmalarında somut düşüş.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21624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⭐  Kurumsal İtibar ve Memnuniyet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Vatandaşın bildirdiği problemin hızla çözülmesiyle artan kamuoyu güveni.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Meydanların düzenli, bakımlı ve güvenli algısının pekişmesi.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Şeffaf belediyecilik ilkelerinin sahada fiilen tecelli etmesi.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SAHA YÖNETİM PANELİ (SYP)  •  BÜYÜME VIZYONU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İstanbul Geneline Yayılım: 15 Meydandan 39 İlçeye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Modüler mimarimiz, İstanbul'un tüm yaşam alanlarını ve parklarını bünyesine katmaya hazır.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  <a:latin typeface="Segoe UI Semibold"/>
              </a:defRPr>
            </a:pPr>
            <a:r>
              <a:t>🟢  1. Aşama (Mevcut Durum)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15 Ana Stratejik Meydan tam aktif.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Personel, vardiya ve başvuru entegrasyonu tamamlandı.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Saha amirleri paneli günlük rutinde kullanıyor.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🟡  2. Aşama (Yakın Plan)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39 İlçenin alt meydanları ve prestij caddelerinin entegrasyonu.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Kıyı şeritleri, sahil dolgu alanları ve yoğun parkların dahil edilmesi.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Masaüstü ve mobil amir tablet koordinasyonunun yaygınlaştırılması.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21624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  <a:latin typeface="Segoe UI Semibold"/>
              </a:defRPr>
            </a:pPr>
            <a:r>
              <a:t>🔵  3. Aşama (Büyükşehir Vizyonu)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İlçe belediyeleri ile ortak operasyonel ara yüz paylaşımı.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Şehir geneli entegre afet ve acil toplanma alanı izleme altyapısı.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Akıllı şehircilikte dünya çapında örnek vaka.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SAHA YÖNETİM PANELİ (SYP)  •  KARAR TALEBI VE VIZYON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Sonuç ve Karar Özeti: 'Sahayı Yöneten, Şehri Yönetir'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SYP ile İstanbul meydanları artık sahipsiz değil; her metrekaresi canlı takip ve kontrol altında.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✅  Üst Yönetim Karar ve Eylem Adımları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1. Kurumsal Yetkilendirme: Saha amirlerinin panele veri giriş disiplininin onaylanması.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2. Haftalık Brifing Entegrasyonu: Üst yönetim koordinasyon toplantılarının SYP üzerinden icra edilmesi.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3. Kurumlar Arası Eşgüdüm: İlgili Daire Başkanlıklarının çözülemeyen kronik işler için SYP masasında toplanması.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4. 2. Faz Yayılım Onayı: 39 ilçe geneline açılma takviminin başlatılması.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  <a:latin typeface="Segoe UI Semibold"/>
              </a:defRPr>
            </a:pPr>
            <a:r>
              <a:t>🤝  Teşekkür &amp; İletişim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İSTANBUL BÜYÜKŞEHİR BELEDİYESİ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Muhtarlık İşleri Dairesi Başkanlığı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Meydan Yönetimi Birimi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Saha Yönetim Paneli (SYP) Operasyon Ekibi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📧 iletisim@ibb.gov.tr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🏛️ İstanbul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